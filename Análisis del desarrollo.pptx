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6858000" cy="9144000"/>
  <p:embeddedFontLst>
    <p:embeddedFont>
      <p:font typeface="Lato"/>
      <p:regular r:id="rId13"/>
      <p:bold r:id="rId14"/>
      <p:italic r:id="rId15"/>
      <p:boldItalic r:id="rId16"/>
    </p:embeddedFont>
    <p:embeddedFont>
      <p:font typeface="Roboto Light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gzAnckSKO1J5sGoSjW1bgetbTgK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Light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customschemas.google.com/relationships/presentationmetadata" Target="metadata"/><Relationship Id="rId13" Type="http://schemas.openxmlformats.org/officeDocument/2006/relationships/font" Target="fonts/Lato-regular.fnt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Lato-italic.fntdata"/><Relationship Id="rId14" Type="http://schemas.openxmlformats.org/officeDocument/2006/relationships/font" Target="fonts/Lato-bold.fntdata"/><Relationship Id="rId17" Type="http://schemas.openxmlformats.org/officeDocument/2006/relationships/font" Target="fonts/RobotoLight-regular.fntdata"/><Relationship Id="rId16" Type="http://schemas.openxmlformats.org/officeDocument/2006/relationships/font" Target="fonts/Lato-boldItalic.fntdata"/><Relationship Id="rId5" Type="http://schemas.openxmlformats.org/officeDocument/2006/relationships/slide" Target="slides/slide1.xml"/><Relationship Id="rId19" Type="http://schemas.openxmlformats.org/officeDocument/2006/relationships/font" Target="fonts/RobotoLight-italic.fntdata"/><Relationship Id="rId6" Type="http://schemas.openxmlformats.org/officeDocument/2006/relationships/slide" Target="slides/slide2.xml"/><Relationship Id="rId18" Type="http://schemas.openxmlformats.org/officeDocument/2006/relationships/font" Target="fonts/RobotoLight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9186d7dfb9_0_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g39186d7dfb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186d7dfb9_0_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g39186d7dfb9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9186d7dfb9_0_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g39186d7dfb9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9186d7dfb9_0_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g39186d7dfb9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9186d7dfb9_0_6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g39186d7dfb9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DFDFD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/>
        </p:nvSpPr>
        <p:spPr>
          <a:xfrm>
            <a:off x="4553238" y="1620197"/>
            <a:ext cx="3854100" cy="1573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lang="es-ES" sz="3300">
                <a:solidFill>
                  <a:srgbClr val="3C3C3B"/>
                </a:solidFill>
                <a:latin typeface="Lato"/>
                <a:ea typeface="Lato"/>
                <a:cs typeface="Lato"/>
                <a:sym typeface="Lato"/>
              </a:rPr>
              <a:t>Desarrollo app NeoWarehouse</a:t>
            </a:r>
            <a:endParaRPr b="0" i="0" sz="3200" u="none" cap="none" strike="noStrike">
              <a:solidFill>
                <a:srgbClr val="3C3C3B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55" name="Google Shape;55;p1"/>
          <p:cNvGrpSpPr/>
          <p:nvPr/>
        </p:nvGrpSpPr>
        <p:grpSpPr>
          <a:xfrm>
            <a:off x="8369264" y="3283461"/>
            <a:ext cx="123000" cy="393878"/>
            <a:chOff x="8369264" y="3283461"/>
            <a:chExt cx="123000" cy="393878"/>
          </a:xfrm>
        </p:grpSpPr>
        <p:sp>
          <p:nvSpPr>
            <p:cNvPr id="56" name="Google Shape;56;p1"/>
            <p:cNvSpPr/>
            <p:nvPr/>
          </p:nvSpPr>
          <p:spPr>
            <a:xfrm rot="5400000">
              <a:off x="8369264" y="3283461"/>
              <a:ext cx="123000" cy="123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7" name="Google Shape;57;p1"/>
            <p:cNvSpPr/>
            <p:nvPr/>
          </p:nvSpPr>
          <p:spPr>
            <a:xfrm rot="5400000">
              <a:off x="8369264" y="3554339"/>
              <a:ext cx="123000" cy="123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cxnSp>
        <p:nvCxnSpPr>
          <p:cNvPr id="58" name="Google Shape;58;p1"/>
          <p:cNvCxnSpPr/>
          <p:nvPr/>
        </p:nvCxnSpPr>
        <p:spPr>
          <a:xfrm>
            <a:off x="367800" y="1829525"/>
            <a:ext cx="4234500" cy="3084000"/>
          </a:xfrm>
          <a:prstGeom prst="bentConnector3">
            <a:avLst>
              <a:gd fmla="val 0" name="adj1"/>
            </a:avLst>
          </a:prstGeom>
          <a:noFill/>
          <a:ln cap="flat" cmpd="sng" w="19050">
            <a:solidFill>
              <a:srgbClr val="B3B3B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"/>
          <p:cNvCxnSpPr/>
          <p:nvPr/>
        </p:nvCxnSpPr>
        <p:spPr>
          <a:xfrm flipH="1" rot="-5400000">
            <a:off x="4786100" y="872275"/>
            <a:ext cx="4564500" cy="3480000"/>
          </a:xfrm>
          <a:prstGeom prst="bentConnector3">
            <a:avLst>
              <a:gd fmla="val -205" name="adj1"/>
            </a:avLst>
          </a:prstGeom>
          <a:noFill/>
          <a:ln cap="flat" cmpd="sng" w="19050">
            <a:solidFill>
              <a:srgbClr val="B3B3B3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0" name="Google Shape;60;p1"/>
          <p:cNvGrpSpPr/>
          <p:nvPr/>
        </p:nvGrpSpPr>
        <p:grpSpPr>
          <a:xfrm rot="5400000">
            <a:off x="503239" y="185236"/>
            <a:ext cx="123000" cy="393878"/>
            <a:chOff x="8369264" y="3283461"/>
            <a:chExt cx="123000" cy="393878"/>
          </a:xfrm>
        </p:grpSpPr>
        <p:sp>
          <p:nvSpPr>
            <p:cNvPr id="61" name="Google Shape;61;p1"/>
            <p:cNvSpPr/>
            <p:nvPr/>
          </p:nvSpPr>
          <p:spPr>
            <a:xfrm rot="5400000">
              <a:off x="8369264" y="3283461"/>
              <a:ext cx="123000" cy="123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62" name="Google Shape;62;p1"/>
            <p:cNvSpPr/>
            <p:nvPr/>
          </p:nvSpPr>
          <p:spPr>
            <a:xfrm rot="5400000">
              <a:off x="8369264" y="3554339"/>
              <a:ext cx="123000" cy="123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pic>
        <p:nvPicPr>
          <p:cNvPr id="63" name="Google Shape;63;p1" title="NeoWarehous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5588" y="1262275"/>
            <a:ext cx="2618926" cy="2618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"/>
          <p:cNvSpPr txBox="1"/>
          <p:nvPr/>
        </p:nvSpPr>
        <p:spPr>
          <a:xfrm>
            <a:off x="2295592" y="514931"/>
            <a:ext cx="4552816" cy="1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s-ES" sz="2400">
                <a:solidFill>
                  <a:srgbClr val="3C3C3B"/>
                </a:solidFill>
                <a:latin typeface="Lato"/>
                <a:ea typeface="Lato"/>
                <a:cs typeface="Lato"/>
                <a:sym typeface="Lato"/>
              </a:rPr>
              <a:t>Modelo Base de Datos</a:t>
            </a:r>
            <a:endParaRPr b="1" i="0" sz="2400" u="none" cap="none" strike="noStrike">
              <a:solidFill>
                <a:srgbClr val="3C3C3B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9" name="Google Shape;69;p2"/>
          <p:cNvSpPr txBox="1"/>
          <p:nvPr/>
        </p:nvSpPr>
        <p:spPr>
          <a:xfrm>
            <a:off x="720000" y="4835700"/>
            <a:ext cx="2885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1" lang="es-ES" sz="800" u="none" cap="none" strike="noStrik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Noviembre 2023 </a:t>
            </a:r>
            <a:r>
              <a:rPr b="0" i="1" lang="es-ES" sz="600" u="none" cap="none" strike="noStrik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 |  </a:t>
            </a:r>
            <a:r>
              <a:rPr b="0" i="1" lang="es-ES" sz="800" u="none" cap="none" strike="noStrik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Comité Directivo – Informática Biomédica</a:t>
            </a:r>
            <a:endParaRPr b="0" i="1" sz="6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grpSp>
        <p:nvGrpSpPr>
          <p:cNvPr id="70" name="Google Shape;70;p2"/>
          <p:cNvGrpSpPr/>
          <p:nvPr/>
        </p:nvGrpSpPr>
        <p:grpSpPr>
          <a:xfrm>
            <a:off x="8871951" y="1061486"/>
            <a:ext cx="123000" cy="393878"/>
            <a:chOff x="8369264" y="3283461"/>
            <a:chExt cx="123000" cy="393878"/>
          </a:xfrm>
        </p:grpSpPr>
        <p:sp>
          <p:nvSpPr>
            <p:cNvPr id="71" name="Google Shape;71;p2"/>
            <p:cNvSpPr/>
            <p:nvPr/>
          </p:nvSpPr>
          <p:spPr>
            <a:xfrm rot="5400000">
              <a:off x="8369264" y="3283461"/>
              <a:ext cx="123000" cy="123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72" name="Google Shape;72;p2"/>
            <p:cNvSpPr/>
            <p:nvPr/>
          </p:nvSpPr>
          <p:spPr>
            <a:xfrm rot="5400000">
              <a:off x="8369264" y="3554339"/>
              <a:ext cx="123000" cy="123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cxnSp>
        <p:nvCxnSpPr>
          <p:cNvPr id="73" name="Google Shape;73;p2"/>
          <p:cNvCxnSpPr/>
          <p:nvPr/>
        </p:nvCxnSpPr>
        <p:spPr>
          <a:xfrm rot="5400000">
            <a:off x="-761700" y="1779950"/>
            <a:ext cx="3196500" cy="1184400"/>
          </a:xfrm>
          <a:prstGeom prst="bentConnector3">
            <a:avLst>
              <a:gd fmla="val 0" name="adj1"/>
            </a:avLst>
          </a:prstGeom>
          <a:noFill/>
          <a:ln cap="flat" cmpd="sng" w="19050">
            <a:solidFill>
              <a:srgbClr val="B3B3B3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74" name="Google Shape;74;p2" title="NeoWarehous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348" y="90050"/>
            <a:ext cx="538076" cy="538058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30323" y="1086199"/>
            <a:ext cx="5283349" cy="297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9186d7dfb9_0_10"/>
          <p:cNvSpPr txBox="1"/>
          <p:nvPr/>
        </p:nvSpPr>
        <p:spPr>
          <a:xfrm>
            <a:off x="2295592" y="514931"/>
            <a:ext cx="4552800" cy="1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s-ES" sz="2400">
                <a:solidFill>
                  <a:srgbClr val="3C3C3B"/>
                </a:solidFill>
                <a:latin typeface="Lato"/>
                <a:ea typeface="Lato"/>
                <a:cs typeface="Lato"/>
                <a:sym typeface="Lato"/>
              </a:rPr>
              <a:t>Matriz MoSCoW</a:t>
            </a:r>
            <a:endParaRPr b="1" i="0" sz="2400" u="none" cap="none" strike="noStrike">
              <a:solidFill>
                <a:srgbClr val="3C3C3B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1" name="Google Shape;81;g39186d7dfb9_0_10"/>
          <p:cNvSpPr txBox="1"/>
          <p:nvPr/>
        </p:nvSpPr>
        <p:spPr>
          <a:xfrm>
            <a:off x="720000" y="4835700"/>
            <a:ext cx="2885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1" lang="es-ES" sz="800" u="none" cap="none" strike="noStrik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Noviembre 2023 </a:t>
            </a:r>
            <a:r>
              <a:rPr b="0" i="1" lang="es-ES" sz="600" u="none" cap="none" strike="noStrik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 |  </a:t>
            </a:r>
            <a:r>
              <a:rPr b="0" i="1" lang="es-ES" sz="800" u="none" cap="none" strike="noStrik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Comité Directivo – Informática Biomédica</a:t>
            </a:r>
            <a:endParaRPr b="0" i="1" sz="6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grpSp>
        <p:nvGrpSpPr>
          <p:cNvPr id="82" name="Google Shape;82;g39186d7dfb9_0_10"/>
          <p:cNvGrpSpPr/>
          <p:nvPr/>
        </p:nvGrpSpPr>
        <p:grpSpPr>
          <a:xfrm>
            <a:off x="8871951" y="1061486"/>
            <a:ext cx="123000" cy="393878"/>
            <a:chOff x="8369264" y="3283461"/>
            <a:chExt cx="123000" cy="393878"/>
          </a:xfrm>
        </p:grpSpPr>
        <p:sp>
          <p:nvSpPr>
            <p:cNvPr id="83" name="Google Shape;83;g39186d7dfb9_0_10"/>
            <p:cNvSpPr/>
            <p:nvPr/>
          </p:nvSpPr>
          <p:spPr>
            <a:xfrm rot="5400000">
              <a:off x="8369264" y="3283461"/>
              <a:ext cx="123000" cy="123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84" name="Google Shape;84;g39186d7dfb9_0_10"/>
            <p:cNvSpPr/>
            <p:nvPr/>
          </p:nvSpPr>
          <p:spPr>
            <a:xfrm rot="5400000">
              <a:off x="8369264" y="3554339"/>
              <a:ext cx="123000" cy="123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cxnSp>
        <p:nvCxnSpPr>
          <p:cNvPr id="85" name="Google Shape;85;g39186d7dfb9_0_10"/>
          <p:cNvCxnSpPr/>
          <p:nvPr/>
        </p:nvCxnSpPr>
        <p:spPr>
          <a:xfrm rot="5400000">
            <a:off x="-761700" y="1779950"/>
            <a:ext cx="3196500" cy="1184400"/>
          </a:xfrm>
          <a:prstGeom prst="bentConnector3">
            <a:avLst>
              <a:gd fmla="val 0" name="adj1"/>
            </a:avLst>
          </a:prstGeom>
          <a:noFill/>
          <a:ln cap="flat" cmpd="sng" w="19050">
            <a:solidFill>
              <a:srgbClr val="B3B3B3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86" name="Google Shape;86;g39186d7dfb9_0_10" title="NeoWarehous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348" y="90050"/>
            <a:ext cx="538076" cy="538058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g39186d7dfb9_0_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44000" y="1169351"/>
            <a:ext cx="4455999" cy="327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9186d7dfb9_0_28"/>
          <p:cNvSpPr txBox="1"/>
          <p:nvPr/>
        </p:nvSpPr>
        <p:spPr>
          <a:xfrm>
            <a:off x="2295592" y="514931"/>
            <a:ext cx="4552800" cy="1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s-ES" sz="2400">
                <a:solidFill>
                  <a:srgbClr val="3C3C3B"/>
                </a:solidFill>
                <a:latin typeface="Lato"/>
                <a:ea typeface="Lato"/>
                <a:cs typeface="Lato"/>
                <a:sym typeface="Lato"/>
              </a:rPr>
              <a:t>Matriz MoSCoW</a:t>
            </a:r>
            <a:endParaRPr b="1" i="0" sz="2400" u="none" cap="none" strike="noStrike">
              <a:solidFill>
                <a:srgbClr val="3C3C3B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3" name="Google Shape;93;g39186d7dfb9_0_28"/>
          <p:cNvSpPr txBox="1"/>
          <p:nvPr/>
        </p:nvSpPr>
        <p:spPr>
          <a:xfrm>
            <a:off x="720000" y="4835700"/>
            <a:ext cx="2885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1" lang="es-ES" sz="800" u="none" cap="none" strike="noStrik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Noviembre 2023 </a:t>
            </a:r>
            <a:r>
              <a:rPr b="0" i="1" lang="es-ES" sz="600" u="none" cap="none" strike="noStrik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 |  </a:t>
            </a:r>
            <a:r>
              <a:rPr b="0" i="1" lang="es-ES" sz="800" u="none" cap="none" strike="noStrik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Comité Directivo – Informática Biomédica</a:t>
            </a:r>
            <a:endParaRPr b="0" i="1" sz="6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grpSp>
        <p:nvGrpSpPr>
          <p:cNvPr id="94" name="Google Shape;94;g39186d7dfb9_0_28"/>
          <p:cNvGrpSpPr/>
          <p:nvPr/>
        </p:nvGrpSpPr>
        <p:grpSpPr>
          <a:xfrm>
            <a:off x="8871951" y="1061486"/>
            <a:ext cx="123000" cy="393878"/>
            <a:chOff x="8369264" y="3283461"/>
            <a:chExt cx="123000" cy="393878"/>
          </a:xfrm>
        </p:grpSpPr>
        <p:sp>
          <p:nvSpPr>
            <p:cNvPr id="95" name="Google Shape;95;g39186d7dfb9_0_28"/>
            <p:cNvSpPr/>
            <p:nvPr/>
          </p:nvSpPr>
          <p:spPr>
            <a:xfrm rot="5400000">
              <a:off x="8369264" y="3283461"/>
              <a:ext cx="123000" cy="123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96" name="Google Shape;96;g39186d7dfb9_0_28"/>
            <p:cNvSpPr/>
            <p:nvPr/>
          </p:nvSpPr>
          <p:spPr>
            <a:xfrm rot="5400000">
              <a:off x="8369264" y="3554339"/>
              <a:ext cx="123000" cy="123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cxnSp>
        <p:nvCxnSpPr>
          <p:cNvPr id="97" name="Google Shape;97;g39186d7dfb9_0_28"/>
          <p:cNvCxnSpPr/>
          <p:nvPr/>
        </p:nvCxnSpPr>
        <p:spPr>
          <a:xfrm rot="5400000">
            <a:off x="-761700" y="1779950"/>
            <a:ext cx="3196500" cy="1184400"/>
          </a:xfrm>
          <a:prstGeom prst="bentConnector3">
            <a:avLst>
              <a:gd fmla="val 0" name="adj1"/>
            </a:avLst>
          </a:prstGeom>
          <a:noFill/>
          <a:ln cap="flat" cmpd="sng" w="19050">
            <a:solidFill>
              <a:srgbClr val="B3B3B3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98" name="Google Shape;98;g39186d7dfb9_0_28" title="NeoWarehous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348" y="90050"/>
            <a:ext cx="538076" cy="5380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g39186d7dfb9_0_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68250" y="1224401"/>
            <a:ext cx="5407501" cy="299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9186d7dfb9_0_40"/>
          <p:cNvSpPr txBox="1"/>
          <p:nvPr/>
        </p:nvSpPr>
        <p:spPr>
          <a:xfrm>
            <a:off x="2295592" y="514931"/>
            <a:ext cx="4552800" cy="1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s-ES" sz="2400">
                <a:solidFill>
                  <a:srgbClr val="3C3C3B"/>
                </a:solidFill>
                <a:latin typeface="Lato"/>
                <a:ea typeface="Lato"/>
                <a:cs typeface="Lato"/>
                <a:sym typeface="Lato"/>
              </a:rPr>
              <a:t>Matriz MoSCoW</a:t>
            </a:r>
            <a:endParaRPr b="1" i="0" sz="2400" u="none" cap="none" strike="noStrike">
              <a:solidFill>
                <a:srgbClr val="3C3C3B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5" name="Google Shape;105;g39186d7dfb9_0_40"/>
          <p:cNvSpPr txBox="1"/>
          <p:nvPr/>
        </p:nvSpPr>
        <p:spPr>
          <a:xfrm>
            <a:off x="720000" y="4835700"/>
            <a:ext cx="2885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1" lang="es-ES" sz="800" u="none" cap="none" strike="noStrik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Noviembre 2023 </a:t>
            </a:r>
            <a:r>
              <a:rPr b="0" i="1" lang="es-ES" sz="600" u="none" cap="none" strike="noStrik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 |  </a:t>
            </a:r>
            <a:r>
              <a:rPr b="0" i="1" lang="es-ES" sz="800" u="none" cap="none" strike="noStrik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Comité Directivo – Informática Biomédica</a:t>
            </a:r>
            <a:endParaRPr b="0" i="1" sz="6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grpSp>
        <p:nvGrpSpPr>
          <p:cNvPr id="106" name="Google Shape;106;g39186d7dfb9_0_40"/>
          <p:cNvGrpSpPr/>
          <p:nvPr/>
        </p:nvGrpSpPr>
        <p:grpSpPr>
          <a:xfrm>
            <a:off x="8871951" y="1061486"/>
            <a:ext cx="123000" cy="393878"/>
            <a:chOff x="8369264" y="3283461"/>
            <a:chExt cx="123000" cy="393878"/>
          </a:xfrm>
        </p:grpSpPr>
        <p:sp>
          <p:nvSpPr>
            <p:cNvPr id="107" name="Google Shape;107;g39186d7dfb9_0_40"/>
            <p:cNvSpPr/>
            <p:nvPr/>
          </p:nvSpPr>
          <p:spPr>
            <a:xfrm rot="5400000">
              <a:off x="8369264" y="3283461"/>
              <a:ext cx="123000" cy="123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08" name="Google Shape;108;g39186d7dfb9_0_40"/>
            <p:cNvSpPr/>
            <p:nvPr/>
          </p:nvSpPr>
          <p:spPr>
            <a:xfrm rot="5400000">
              <a:off x="8369264" y="3554339"/>
              <a:ext cx="123000" cy="123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cxnSp>
        <p:nvCxnSpPr>
          <p:cNvPr id="109" name="Google Shape;109;g39186d7dfb9_0_40"/>
          <p:cNvCxnSpPr/>
          <p:nvPr/>
        </p:nvCxnSpPr>
        <p:spPr>
          <a:xfrm rot="5400000">
            <a:off x="-761700" y="1779950"/>
            <a:ext cx="3196500" cy="1184400"/>
          </a:xfrm>
          <a:prstGeom prst="bentConnector3">
            <a:avLst>
              <a:gd fmla="val 0" name="adj1"/>
            </a:avLst>
          </a:prstGeom>
          <a:noFill/>
          <a:ln cap="flat" cmpd="sng" w="19050">
            <a:solidFill>
              <a:srgbClr val="B3B3B3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10" name="Google Shape;110;g39186d7dfb9_0_40" title="NeoWarehous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348" y="90050"/>
            <a:ext cx="538076" cy="5380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g39186d7dfb9_0_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41988" y="1469476"/>
            <a:ext cx="4860026" cy="220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9186d7dfb9_0_52"/>
          <p:cNvSpPr txBox="1"/>
          <p:nvPr/>
        </p:nvSpPr>
        <p:spPr>
          <a:xfrm>
            <a:off x="2295592" y="514931"/>
            <a:ext cx="4552800" cy="1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s-ES" sz="2400">
                <a:solidFill>
                  <a:srgbClr val="3C3C3B"/>
                </a:solidFill>
                <a:latin typeface="Lato"/>
                <a:ea typeface="Lato"/>
                <a:cs typeface="Lato"/>
                <a:sym typeface="Lato"/>
              </a:rPr>
              <a:t>Matriz MoSCoW</a:t>
            </a:r>
            <a:endParaRPr b="1" i="0" sz="2400" u="none" cap="none" strike="noStrike">
              <a:solidFill>
                <a:srgbClr val="3C3C3B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7" name="Google Shape;117;g39186d7dfb9_0_52"/>
          <p:cNvSpPr txBox="1"/>
          <p:nvPr/>
        </p:nvSpPr>
        <p:spPr>
          <a:xfrm>
            <a:off x="720000" y="4835700"/>
            <a:ext cx="2885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1" lang="es-ES" sz="800" u="none" cap="none" strike="noStrik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Noviembre 2023 </a:t>
            </a:r>
            <a:r>
              <a:rPr b="0" i="1" lang="es-ES" sz="600" u="none" cap="none" strike="noStrik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 |  </a:t>
            </a:r>
            <a:r>
              <a:rPr b="0" i="1" lang="es-ES" sz="800" u="none" cap="none" strike="noStrik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Comité Directivo – Informática Biomédica</a:t>
            </a:r>
            <a:endParaRPr b="0" i="1" sz="6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grpSp>
        <p:nvGrpSpPr>
          <p:cNvPr id="118" name="Google Shape;118;g39186d7dfb9_0_52"/>
          <p:cNvGrpSpPr/>
          <p:nvPr/>
        </p:nvGrpSpPr>
        <p:grpSpPr>
          <a:xfrm>
            <a:off x="8871951" y="1061486"/>
            <a:ext cx="123000" cy="393878"/>
            <a:chOff x="8369264" y="3283461"/>
            <a:chExt cx="123000" cy="393878"/>
          </a:xfrm>
        </p:grpSpPr>
        <p:sp>
          <p:nvSpPr>
            <p:cNvPr id="119" name="Google Shape;119;g39186d7dfb9_0_52"/>
            <p:cNvSpPr/>
            <p:nvPr/>
          </p:nvSpPr>
          <p:spPr>
            <a:xfrm rot="5400000">
              <a:off x="8369264" y="3283461"/>
              <a:ext cx="123000" cy="123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20" name="Google Shape;120;g39186d7dfb9_0_52"/>
            <p:cNvSpPr/>
            <p:nvPr/>
          </p:nvSpPr>
          <p:spPr>
            <a:xfrm rot="5400000">
              <a:off x="8369264" y="3554339"/>
              <a:ext cx="123000" cy="123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cxnSp>
        <p:nvCxnSpPr>
          <p:cNvPr id="121" name="Google Shape;121;g39186d7dfb9_0_52"/>
          <p:cNvCxnSpPr/>
          <p:nvPr/>
        </p:nvCxnSpPr>
        <p:spPr>
          <a:xfrm rot="5400000">
            <a:off x="-761700" y="1779950"/>
            <a:ext cx="3196500" cy="1184400"/>
          </a:xfrm>
          <a:prstGeom prst="bentConnector3">
            <a:avLst>
              <a:gd fmla="val 0" name="adj1"/>
            </a:avLst>
          </a:prstGeom>
          <a:noFill/>
          <a:ln cap="flat" cmpd="sng" w="19050">
            <a:solidFill>
              <a:srgbClr val="B3B3B3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22" name="Google Shape;122;g39186d7dfb9_0_52" title="NeoWarehous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348" y="90050"/>
            <a:ext cx="538076" cy="5380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g39186d7dfb9_0_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19825" y="1410464"/>
            <a:ext cx="5304350" cy="232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9186d7dfb9_0_64"/>
          <p:cNvSpPr txBox="1"/>
          <p:nvPr/>
        </p:nvSpPr>
        <p:spPr>
          <a:xfrm>
            <a:off x="2295592" y="514931"/>
            <a:ext cx="4552800" cy="1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s-ES" sz="2400">
                <a:solidFill>
                  <a:srgbClr val="3C3C3B"/>
                </a:solidFill>
                <a:latin typeface="Lato"/>
                <a:ea typeface="Lato"/>
                <a:cs typeface="Lato"/>
                <a:sym typeface="Lato"/>
              </a:rPr>
              <a:t>Tablero Jira</a:t>
            </a:r>
            <a:endParaRPr b="1" i="0" sz="2400" u="none" cap="none" strike="noStrike">
              <a:solidFill>
                <a:srgbClr val="3C3C3B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9" name="Google Shape;129;g39186d7dfb9_0_64"/>
          <p:cNvSpPr txBox="1"/>
          <p:nvPr/>
        </p:nvSpPr>
        <p:spPr>
          <a:xfrm>
            <a:off x="720000" y="4835700"/>
            <a:ext cx="2885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1" lang="es-ES" sz="800" u="none" cap="none" strike="noStrik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Noviembre 2023 </a:t>
            </a:r>
            <a:r>
              <a:rPr b="0" i="1" lang="es-ES" sz="600" u="none" cap="none" strike="noStrik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 |  </a:t>
            </a:r>
            <a:r>
              <a:rPr b="0" i="1" lang="es-ES" sz="800" u="none" cap="none" strike="noStrik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Comité Directivo – Informática Biomédica</a:t>
            </a:r>
            <a:endParaRPr b="0" i="1" sz="6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grpSp>
        <p:nvGrpSpPr>
          <p:cNvPr id="130" name="Google Shape;130;g39186d7dfb9_0_64"/>
          <p:cNvGrpSpPr/>
          <p:nvPr/>
        </p:nvGrpSpPr>
        <p:grpSpPr>
          <a:xfrm>
            <a:off x="8871951" y="1061486"/>
            <a:ext cx="123000" cy="393878"/>
            <a:chOff x="8369264" y="3283461"/>
            <a:chExt cx="123000" cy="393878"/>
          </a:xfrm>
        </p:grpSpPr>
        <p:sp>
          <p:nvSpPr>
            <p:cNvPr id="131" name="Google Shape;131;g39186d7dfb9_0_64"/>
            <p:cNvSpPr/>
            <p:nvPr/>
          </p:nvSpPr>
          <p:spPr>
            <a:xfrm rot="5400000">
              <a:off x="8369264" y="3283461"/>
              <a:ext cx="123000" cy="123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32" name="Google Shape;132;g39186d7dfb9_0_64"/>
            <p:cNvSpPr/>
            <p:nvPr/>
          </p:nvSpPr>
          <p:spPr>
            <a:xfrm rot="5400000">
              <a:off x="8369264" y="3554339"/>
              <a:ext cx="123000" cy="123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cxnSp>
        <p:nvCxnSpPr>
          <p:cNvPr id="133" name="Google Shape;133;g39186d7dfb9_0_64"/>
          <p:cNvCxnSpPr/>
          <p:nvPr/>
        </p:nvCxnSpPr>
        <p:spPr>
          <a:xfrm rot="5400000">
            <a:off x="-761700" y="1779950"/>
            <a:ext cx="3196500" cy="1184400"/>
          </a:xfrm>
          <a:prstGeom prst="bentConnector3">
            <a:avLst>
              <a:gd fmla="val 0" name="adj1"/>
            </a:avLst>
          </a:prstGeom>
          <a:noFill/>
          <a:ln cap="flat" cmpd="sng" w="19050">
            <a:solidFill>
              <a:srgbClr val="B3B3B3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34" name="Google Shape;134;g39186d7dfb9_0_64" title="NeoWarehous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348" y="90050"/>
            <a:ext cx="538076" cy="5380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g39186d7dfb9_0_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91450" y="1030022"/>
            <a:ext cx="4561109" cy="38206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"/>
          <p:cNvSpPr txBox="1"/>
          <p:nvPr/>
        </p:nvSpPr>
        <p:spPr>
          <a:xfrm>
            <a:off x="2644950" y="445698"/>
            <a:ext cx="3854100" cy="6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s-ES" sz="3300" u="none" cap="none" strike="noStrike">
                <a:solidFill>
                  <a:srgbClr val="3C3C3B"/>
                </a:solidFill>
                <a:latin typeface="Lato"/>
                <a:ea typeface="Lato"/>
                <a:cs typeface="Lato"/>
                <a:sym typeface="Lato"/>
              </a:rPr>
              <a:t>¡Muchas Gracias!</a:t>
            </a:r>
            <a:r>
              <a:rPr b="1" i="0" lang="es-ES" sz="3700" u="none" cap="none" strike="noStrike">
                <a:solidFill>
                  <a:srgbClr val="3C3C3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0" i="0" sz="3200" u="none" cap="none" strike="noStrike">
              <a:solidFill>
                <a:srgbClr val="3C3C3B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41" name="Google Shape;141;p5" title="NeoWarehous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134" y="1479784"/>
            <a:ext cx="3047749" cy="3047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